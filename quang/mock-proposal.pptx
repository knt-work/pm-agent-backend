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36A9C9-CE77-4A79-82B9-B57DB9DFB043}">
  <a:tblStyle styleId="{6A36A9C9-CE77-4A79-82B9-B57DB9DFB0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1801a7c2a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a1801a7c2a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801a7c2a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a1801a7c2a_7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1801a7c2a_7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a1801a7c2a_7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801a7c2a_7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a1801a7c2a_7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1801a7c2a_7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1801a7c2a_7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1801a7c2a_7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a1801a7c2a_7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1801a7c2a_7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a1801a7c2a_7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801a7c2a_7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a1801a7c2a_7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801a7c2a_7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a1801a7c2a_7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1801a7c2a_7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1801a7c2a_7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1801a7c2a_7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a1801a7c2a_7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15507" y="992767"/>
            <a:ext cx="11358000" cy="27369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15496" y="3778833"/>
            <a:ext cx="11358000" cy="1056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496" y="2867800"/>
            <a:ext cx="11358000" cy="11223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15496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441588" y="1536633"/>
            <a:ext cx="5331900" cy="4555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496" y="740800"/>
            <a:ext cx="3743100" cy="1007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496" y="1852800"/>
            <a:ext cx="3743100" cy="4239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53503" y="600200"/>
            <a:ext cx="8488200" cy="54543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4475" y="-167"/>
            <a:ext cx="6094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53911" y="1644233"/>
            <a:ext cx="5392200" cy="19764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53911" y="3737433"/>
            <a:ext cx="5392200" cy="1646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584352" y="965433"/>
            <a:ext cx="5114700" cy="49269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496" y="5640767"/>
            <a:ext cx="7996500" cy="806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15496" y="1474833"/>
            <a:ext cx="11358000" cy="2618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15496" y="4202967"/>
            <a:ext cx="11358000" cy="17343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3784" y="6217622"/>
            <a:ext cx="731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121875" spcFirstLastPara="1" rIns="121875" wrap="square" tIns="121875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14400" y="1807400"/>
            <a:ext cx="100584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BankConnect – Internal Employee Management System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914400" y="3408200"/>
            <a:ext cx="1005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 unified platform for employee management, communication, and performance tracking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457200" y="45720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914400" y="137160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Objective: Unify employee management across all bank branches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914400" y="192024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Duration: January 2025 – June 2026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914400" y="246888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Users: 500+ internal employees nationwide</a:t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914400" y="301752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Target Impact: +30% operational efficiency improvement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457200" y="45720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731520" y="1828800"/>
            <a:ext cx="3474600" cy="22860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Operational Efficiency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Automate HR workflows and reduce manual effort</a:t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4572000" y="1828800"/>
            <a:ext cx="3474600" cy="22860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Centralized Communication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Integrate updates and messages across branches</a:t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8412480" y="1828800"/>
            <a:ext cx="3474600" cy="22860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Performance Visibility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Provide real-time KPIs for management decisions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457200" y="45720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Project Scope Summary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914400" y="1554480"/>
            <a:ext cx="10058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In Scope:</a:t>
            </a:r>
            <a:b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Core HR and attendance modules</a:t>
            </a:r>
            <a:b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Communication and announcement tools</a:t>
            </a:r>
            <a:b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Performance analytics and reporting</a:t>
            </a:r>
            <a:b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Compliance tracking and security controls</a:t>
            </a:r>
            <a:b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Out of Scope (Phase 1):</a:t>
            </a:r>
            <a:b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AI predictive analytics</a:t>
            </a:r>
            <a:b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Third-party financial system integration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457200" y="45720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731520" y="1828800"/>
            <a:ext cx="2743200" cy="13716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Onboarding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Streamlined onboarding workflow</a:t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4389120" y="1828800"/>
            <a:ext cx="2743200" cy="13716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Biometric attendance integration</a:t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8046720" y="1828800"/>
            <a:ext cx="2743200" cy="13716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360° feedback system</a:t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731520" y="3657600"/>
            <a:ext cx="2743200" cy="13716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Secure internal chat and notifications</a:t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4389120" y="3657600"/>
            <a:ext cx="2743200" cy="13716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Compliance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Centralized training and certification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8046720" y="3657600"/>
            <a:ext cx="2743200" cy="13716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Custom KPI dashboards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 Roadmap (2025–2026)</a:t>
            </a:r>
            <a:endParaRPr/>
          </a:p>
        </p:txBody>
      </p:sp>
      <p:graphicFrame>
        <p:nvGraphicFramePr>
          <p:cNvPr id="95" name="Google Shape;95;p18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{6A36A9C9-CE77-4A79-82B9-B57DB9DFB043}</a:tableStyleId>
              </a:tblPr>
              <a:tblGrid>
                <a:gridCol w="2743200"/>
                <a:gridCol w="1828800"/>
                <a:gridCol w="6400800"/>
              </a:tblGrid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Phase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Timeline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Key Deliverables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66C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1. Planning &amp; Requirement Gathering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Q1 2025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Business analysis, data mapping, security framework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2. Architecture &amp; Database Design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Q2 2025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Define modules, relationships, access matrix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3. Core HR Module Development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Q3 2025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Onboarding, attendance, leave management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4. Performance &amp; Analytics Module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Q4 2025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KPI engine, dashboards, reporting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5. Internal Communication Tools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Q1 2026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Chat, notifications, announcements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6. UAT &amp; Compliance Testing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Q2 2026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Pen testing, ISO validation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7. Launch &amp; Optimization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Q3 2026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Rollout and feedback integration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/>
        </p:nvSpPr>
        <p:spPr>
          <a:xfrm>
            <a:off x="457200" y="45720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Technical Architecture Overview</a:t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1828800" y="1645920"/>
            <a:ext cx="8229600" cy="7314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User Interface: React + TailwindCSS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1828800" y="2560320"/>
            <a:ext cx="8229600" cy="7314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Application Layer: Spring Boot Microservices</a:t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1828800" y="3474720"/>
            <a:ext cx="8229600" cy="7314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Security Layer: Keycloak + JWT Authentication</a:t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1828800" y="4389120"/>
            <a:ext cx="8229600" cy="7314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Data Layer: PostgreSQL (Encrypted)</a:t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1828800" y="5303520"/>
            <a:ext cx="8229600" cy="731400"/>
          </a:xfrm>
          <a:prstGeom prst="rect">
            <a:avLst/>
          </a:prstGeom>
          <a:solidFill>
            <a:srgbClr val="E6F0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Deployment &amp; Monitoring: Docker • Kubernetes • Prometheus • Grafana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/>
        </p:nvSpPr>
        <p:spPr>
          <a:xfrm>
            <a:off x="457200" y="45720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Governance &amp; Roles</a:t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914400" y="155448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👤 Project Sponsor — Approves budget and ensures alignment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914400" y="210312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👨‍💼 Project Manager — Oversees planning and delivery</a:t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914400" y="265176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💻 Tech Lead — Designs architecture and integrations</a:t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914400" y="320040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🧩 QA Lead — Oversees testing and compliance</a:t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914400" y="3749039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🧠 HR Analyst — Maps processes and validates data</a:t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914400" y="4297679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⚙️ DevOps — Handles CI/CD and deployment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457200" y="45720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Risk Management</a:t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914400" y="1554480"/>
            <a:ext cx="50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⚠️ Data Breach</a:t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5669280" y="1554480"/>
            <a:ext cx="5486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End-to-end encryption and RBAC policies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914400" y="2286000"/>
            <a:ext cx="50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⏱ Delay in Rollout</a:t>
            </a:r>
            <a:endParaRPr/>
          </a:p>
        </p:txBody>
      </p:sp>
      <p:sp>
        <p:nvSpPr>
          <p:cNvPr id="125" name="Google Shape;125;p21"/>
          <p:cNvSpPr txBox="1"/>
          <p:nvPr/>
        </p:nvSpPr>
        <p:spPr>
          <a:xfrm>
            <a:off x="5669280" y="2286000"/>
            <a:ext cx="5486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Agile milestones with regular reviews</a:t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914400" y="3017520"/>
            <a:ext cx="50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🧍‍♂️ Adoption Challenges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5669280" y="3017520"/>
            <a:ext cx="5486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Training and pilot rollout</a:t>
            </a:r>
            <a:endParaRPr/>
          </a:p>
        </p:txBody>
      </p:sp>
      <p:sp>
        <p:nvSpPr>
          <p:cNvPr id="128" name="Google Shape;128;p21"/>
          <p:cNvSpPr txBox="1"/>
          <p:nvPr/>
        </p:nvSpPr>
        <p:spPr>
          <a:xfrm>
            <a:off x="914400" y="3749039"/>
            <a:ext cx="50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🔌 Integration Errors</a:t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5669280" y="3749039"/>
            <a:ext cx="5486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Dedicated API sandbox testing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457200" y="457200"/>
            <a:ext cx="1097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914400" y="2286000"/>
            <a:ext cx="3474600" cy="2286000"/>
          </a:xfrm>
          <a:prstGeom prst="rect">
            <a:avLst/>
          </a:prstGeom>
          <a:solidFill>
            <a:srgbClr val="F0F5FF"/>
          </a:solidFill>
          <a:ln cap="flat" cmpd="sng" w="9525">
            <a:solidFill>
              <a:srgbClr val="0066C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⏱ 70% Faster HR Processes</a:t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4663440" y="2286000"/>
            <a:ext cx="3474600" cy="2286000"/>
          </a:xfrm>
          <a:prstGeom prst="rect">
            <a:avLst/>
          </a:prstGeom>
          <a:solidFill>
            <a:srgbClr val="F0F5FF"/>
          </a:solidFill>
          <a:ln cap="flat" cmpd="sng" w="9525">
            <a:solidFill>
              <a:srgbClr val="00996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9966"/>
                </a:solidFill>
                <a:latin typeface="Calibri"/>
                <a:ea typeface="Calibri"/>
                <a:cs typeface="Calibri"/>
                <a:sym typeface="Calibri"/>
              </a:rPr>
              <a:t>📉 80% Reduction in Data Errors</a:t>
            </a:r>
            <a:endParaRPr/>
          </a:p>
        </p:txBody>
      </p:sp>
      <p:sp>
        <p:nvSpPr>
          <p:cNvPr id="137" name="Google Shape;137;p22"/>
          <p:cNvSpPr/>
          <p:nvPr/>
        </p:nvSpPr>
        <p:spPr>
          <a:xfrm>
            <a:off x="8412480" y="2286000"/>
            <a:ext cx="3474600" cy="2286000"/>
          </a:xfrm>
          <a:prstGeom prst="rect">
            <a:avLst/>
          </a:prstGeom>
          <a:solidFill>
            <a:srgbClr val="F0F5FF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📈 20% Increase in Employee Satisfaction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/>
        </p:nvSpPr>
        <p:spPr>
          <a:xfrm>
            <a:off x="914400" y="2743200"/>
            <a:ext cx="10058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“Transforming Banking Operations Through Digital Empowerment”</a:t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914400" y="3657600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📧 contact@bankconnect.com   🌐 www.bankconnect.io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