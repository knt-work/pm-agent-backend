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Improvement Metrics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</c:v>
                </c:pt>
              </c:strCache>
            </c:strRef>
          </c:tx>
          <c:spPr>
            <a:solidFill>
              <a:srgbClr val="34A853"/>
            </a:solidFill>
          </c:spPr>
          <c:cat>
            <c:strRef>
              <c:f>Sheet1!$A$2:$A$4</c:f>
              <c:strCache>
                <c:ptCount val="3"/>
                <c:pt idx="0">
                  <c:v>HR Process Speed</c:v>
                </c:pt>
                <c:pt idx="1">
                  <c:v>Data Accuracy</c:v>
                </c:pt>
                <c:pt idx="2">
                  <c:v>Employee Satisfaction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80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1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BankConnect – Internal Employee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374151"/>
                </a:solidFill>
                <a:latin typeface="Calibri"/>
              </a:defRPr>
            </a:pPr>
            <a:r>
              <a:t>A unified platform for employee management, communication, and performance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B7280"/>
                </a:solidFill>
              </a:defRPr>
            </a:pPr>
            <a:r>
              <a:t>need manual input  •  need manual input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B1B1B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1B1B1B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Unify employee management across all bank branches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Implement from January 2025 to June 2026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Serve 500+ internal employees nationwide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Achieve +30% operational efficiency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B1B1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1B1B1B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Onboarding: Streamlined workflow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Attendance: Biometric integration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Evaluation: 360° feedback system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Communication: Secure internal chat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Compliance: Centralized training</a:t>
            </a:r>
          </a:p>
          <a:p>
            <a:pPr algn="l">
              <a:defRPr sz="2400">
                <a:solidFill>
                  <a:srgbClr val="1B1B1B"/>
                </a:solidFill>
                <a:latin typeface="Arial"/>
              </a:defRPr>
            </a:pPr>
            <a:r>
              <a:t>Analytics: Custom KPI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B1B1B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1B1B1B"/>
                </a:solidFill>
                <a:latin typeface="Arial"/>
              </a:defRPr>
            </a:pPr>
            <a:r>
              <a:t>Product Roadmap (2025–2026)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371600"/>
            <a:ext cx="9921240" cy="65314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4742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677885"/>
            <a:ext cx="9921240" cy="65314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77885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Core HR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1028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3984171"/>
            <a:ext cx="9921240" cy="65314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84171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37314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UAT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5290457"/>
            <a:ext cx="9921240" cy="65314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90457"/>
            <a:ext cx="960120" cy="653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B1B1B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10505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7825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93614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371600"/>
            <a:ext cx="16459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08760" y="1316736"/>
            <a:ext cx="9921240" cy="109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2432" y="1188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B1B1B"/>
                </a:solidFill>
                <a:latin typeface="Calibri"/>
              </a:defRPr>
            </a:pPr>
            <a:r>
              <a:t>Q1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1965" y="1188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B1B1B"/>
                </a:solidFill>
                <a:latin typeface="Calibri"/>
              </a:defRPr>
            </a:pPr>
            <a:r>
              <a:t>Q2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7072" y="1188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B1B1B"/>
                </a:solidFill>
                <a:latin typeface="Calibri"/>
              </a:defRPr>
            </a:pPr>
            <a:r>
              <a:t>Q3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9967" y="1188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B1B1B"/>
                </a:solidFill>
                <a:latin typeface="Calibri"/>
              </a:defRPr>
            </a:pPr>
            <a:r>
              <a:t>Q4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7287" y="1188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B1B1B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6820" y="1188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B1B1B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29" name="Chevron 28"/>
          <p:cNvSpPr/>
          <p:nvPr/>
        </p:nvSpPr>
        <p:spPr>
          <a:xfrm>
            <a:off x="1508760" y="1502228"/>
            <a:ext cx="1386170" cy="391885"/>
          </a:xfrm>
          <a:prstGeom prst="chevron">
            <a:avLst>
              <a:gd name="adj" fmla="val 28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30" name="Chevron 29"/>
          <p:cNvSpPr/>
          <p:nvPr/>
        </p:nvSpPr>
        <p:spPr>
          <a:xfrm>
            <a:off x="2910505" y="2155371"/>
            <a:ext cx="1401745" cy="391885"/>
          </a:xfrm>
          <a:prstGeom prst="chevron">
            <a:avLst>
              <a:gd name="adj" fmla="val 28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1" name="Chevron 30"/>
          <p:cNvSpPr/>
          <p:nvPr/>
        </p:nvSpPr>
        <p:spPr>
          <a:xfrm>
            <a:off x="4327825" y="2808514"/>
            <a:ext cx="1417320" cy="391885"/>
          </a:xfrm>
          <a:prstGeom prst="chevron">
            <a:avLst>
              <a:gd name="adj" fmla="val 28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Core HR Dev</a:t>
            </a:r>
          </a:p>
        </p:txBody>
      </p:sp>
      <p:sp>
        <p:nvSpPr>
          <p:cNvPr id="32" name="Chevron 31"/>
          <p:cNvSpPr/>
          <p:nvPr/>
        </p:nvSpPr>
        <p:spPr>
          <a:xfrm>
            <a:off x="5760720" y="3461657"/>
            <a:ext cx="1417320" cy="391885"/>
          </a:xfrm>
          <a:prstGeom prst="chevron">
            <a:avLst>
              <a:gd name="adj" fmla="val 28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3" name="Chevron 32"/>
          <p:cNvSpPr/>
          <p:nvPr/>
        </p:nvSpPr>
        <p:spPr>
          <a:xfrm>
            <a:off x="7193614" y="4114800"/>
            <a:ext cx="1386170" cy="391885"/>
          </a:xfrm>
          <a:prstGeom prst="chevron">
            <a:avLst>
              <a:gd name="adj" fmla="val 28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34" name="Chevron 33"/>
          <p:cNvSpPr/>
          <p:nvPr/>
        </p:nvSpPr>
        <p:spPr>
          <a:xfrm>
            <a:off x="8595360" y="4767942"/>
            <a:ext cx="1401745" cy="391885"/>
          </a:xfrm>
          <a:prstGeom prst="chevron">
            <a:avLst>
              <a:gd name="adj" fmla="val 28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UAT</a:t>
            </a:r>
          </a:p>
        </p:txBody>
      </p:sp>
      <p:sp>
        <p:nvSpPr>
          <p:cNvPr id="35" name="Chevron 34"/>
          <p:cNvSpPr/>
          <p:nvPr/>
        </p:nvSpPr>
        <p:spPr>
          <a:xfrm>
            <a:off x="10012680" y="5421085"/>
            <a:ext cx="1417320" cy="391885"/>
          </a:xfrm>
          <a:prstGeom prst="chevron">
            <a:avLst>
              <a:gd name="adj" fmla="val 28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>
              <a:defRPr sz="1100" b="1">
                <a:solidFill>
                  <a:srgbClr val="1B1B1B"/>
                </a:solidFill>
                <a:latin typeface="Calibri"/>
              </a:defRPr>
            </a:pPr>
            <a:r>
              <a:t>Launch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B1B1B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1B1B1B"/>
                </a:solidFill>
                <a:latin typeface="Arial"/>
              </a:defRPr>
            </a:pPr>
            <a:r>
              <a:t>Risk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End-to-end encryption and RBAC policies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Delay in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Agile milestones with regular reviews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Adoption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Training and pilot rollout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Integration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Dedicated API sandbox testing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B1B1B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1B1B1B"/>
                </a:solidFill>
                <a:latin typeface="Arial"/>
              </a:defRPr>
            </a:pPr>
            <a:r>
              <a:t>Expected Outcomes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10058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B1B1B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 b="1">
                <a:solidFill>
                  <a:srgbClr val="1B1B1B"/>
                </a:solidFill>
                <a:latin typeface="Arial"/>
              </a:defRPr>
            </a:pPr>
            <a:r>
              <a:t>Transforming Banking Operations Through Digital Empowerment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>
                <a:solidFill>
                  <a:srgbClr val="1B1B1B"/>
                </a:solidFill>
                <a:latin typeface="Arial"/>
              </a:defRPr>
            </a:pPr>
            <a:r>
              <a:t>📧 contact@bankconnect.com   🌐 www.bankconnect.io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200" b="1">
                <a:solidFill>
                  <a:srgbClr val="1B1B1B"/>
                </a:solidFill>
                <a:latin typeface="Calibri"/>
              </a:defRPr>
            </a:pPr>
            <a:r>
              <a:t>Risk &amp; Issue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"/>
                <a:gridCol w="41148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Action/Prevention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Plan End Date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Scope creep risk due to agile methodology and product backlog (Description of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Regularly review and prioritize product backlog with client. Set clear sprint goals.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Schedule risk due to iterative implementation and user-focused sprints (Description of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Establish clear sprint timelines and review velocity regularly. Adjust scope as needed.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Dependency risk on client for sprint planning and prioritization (Description of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Schedule regular planning sessions with client. Maintain a buffer of prioritized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Resource retention risk due to Subcontractor's ability to change resources (Governance 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Develop a resource retention plan. Ensure knowledge transfer processes are in place.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Technical risk due to requirement for 5-hour overlap with AEST time zone (Expected Availability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Confirm team's ability to meet time zone requirements. Consider flexible scheduling if needed.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Tech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Communication risk due to remote work setup (Expected Availability 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Establish clear communication protocols. Ensure all team members have proper remote work setups.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Compliance risk related to visa status of Subcontractor Personnel (Flow-Down Terms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Implement regular checks on visa status. Have contingency plans for potential visa issues.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200" b="1">
                <a:solidFill>
                  <a:srgbClr val="1B1B1B"/>
                </a:solidFill>
                <a:latin typeface="Calibri"/>
              </a:defRPr>
            </a:pPr>
            <a:r>
              <a:t>Contract Compliance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91440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Remark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Statement of Work (SOW)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Entire document is a SOW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Described as 'Releases' in Description of Work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Payment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Not explicitly mentioned in the document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Mentioned in Approval Processes section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Penalty/Liquidated Damages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Not explicitly mentioned in the document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Not explicitly mentioned in the document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Confidentiality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Mentioned in Flow-Down Terms 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Change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Mentioned in Governance V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Protection/Indemnity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Mentioned in Flow-Down Terms 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